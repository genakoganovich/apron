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QA for LLM: Instruction Following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Evaluation Templates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Instruction Following: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Definition:</a:t>
            </a:r>
            <a:r>
              <a:rPr/>
              <a:t> The extent to which the model ATTEMPTS to answer all aspects of the prompt.</a:t>
            </a:r>
          </a:p>
          <a:p>
            <a:pPr lvl="0" indent="0" marL="0">
              <a:buNone/>
            </a:pPr>
            <a:r>
              <a:rPr b="1"/>
              <a:t>Core Question:</a:t>
            </a:r>
            <a:r>
              <a:rPr/>
              <a:t> &gt; Did the model do </a:t>
            </a:r>
            <a:r>
              <a:rPr i="1"/>
              <a:t>exactly</a:t>
            </a:r>
            <a:r>
              <a:rPr/>
              <a:t> what it was asked to do?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Instruction Following: Subcategories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evaluate these 6 aspects:</a:t>
            </a:r>
          </a:p>
          <a:p>
            <a:pPr lvl="0" indent="-342900" marL="342900">
              <a:buAutoNum type="arabicPeriod"/>
            </a:pPr>
            <a:r>
              <a:rPr b="1"/>
              <a:t>Overall Completeness</a:t>
            </a:r>
          </a:p>
          <a:p>
            <a:pPr lvl="0" indent="-342900" marL="342900">
              <a:buAutoNum type="arabicPeriod"/>
            </a:pPr>
            <a:r>
              <a:rPr b="1"/>
              <a:t>Constraint Adherence</a:t>
            </a:r>
          </a:p>
          <a:p>
            <a:pPr lvl="0" indent="-342900" marL="342900">
              <a:buAutoNum type="arabicPeriod"/>
            </a:pPr>
            <a:r>
              <a:rPr b="1"/>
              <a:t>Required Output Format</a:t>
            </a:r>
          </a:p>
          <a:p>
            <a:pPr lvl="0" indent="-342900" marL="342900">
              <a:buAutoNum type="arabicPeriod"/>
            </a:pPr>
            <a:r>
              <a:rPr b="1"/>
              <a:t>Extraneous Content</a:t>
            </a:r>
          </a:p>
          <a:p>
            <a:pPr lvl="0" indent="-342900" marL="342900">
              <a:buAutoNum type="arabicPeriod"/>
            </a:pPr>
            <a:r>
              <a:rPr b="1"/>
              <a:t>Step-by-Step / Rationale</a:t>
            </a:r>
          </a:p>
          <a:p>
            <a:pPr lvl="0" indent="-342900" marL="342900">
              <a:buAutoNum type="arabicPeriod"/>
            </a:pPr>
            <a:r>
              <a:rPr b="1"/>
              <a:t>Follow-up Actions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Overall 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response fully satisfies every part of the prompt.”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“Answers the main question but omits a minor detail: </a:t>
            </a:r>
            <a:r>
              <a:rPr>
                <a:latin typeface="Courier"/>
              </a:rPr>
              <a:t>[detail]</a:t>
            </a:r>
            <a:r>
              <a:rPr/>
              <a:t>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“Fails to address a major part of the prompt, ignoring the request to </a:t>
            </a:r>
            <a:r>
              <a:rPr>
                <a:latin typeface="Courier"/>
              </a:rPr>
              <a:t>[missed goal]</a:t>
            </a:r>
            <a:r>
              <a:rPr/>
              <a:t>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Constraint Adherence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“All explicit constraints (language, length, libraries) are followed.”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“Mostly follows constraints, but slightly violates one, e.g., </a:t>
            </a:r>
            <a:r>
              <a:rPr>
                <a:latin typeface="Courier"/>
              </a:rPr>
              <a:t>[minor violation]</a:t>
            </a:r>
            <a:r>
              <a:rPr/>
              <a:t>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“Ignores a critical constraint, providing a solution in </a:t>
            </a:r>
            <a:r>
              <a:rPr>
                <a:latin typeface="Courier"/>
              </a:rPr>
              <a:t>[wrong language]</a:t>
            </a:r>
            <a:r>
              <a:rPr/>
              <a:t> instead of </a:t>
            </a:r>
            <a:r>
              <a:rPr>
                <a:latin typeface="Courier"/>
              </a:rPr>
              <a:t>[correct language]</a:t>
            </a:r>
            <a:r>
              <a:rPr/>
              <a:t>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Required Output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output matches the exact format specified in the prompt (e.g., JSON, list, specific function name).”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data is correct, but the format has a minor error (e.g., wrong function name </a:t>
            </a:r>
            <a:r>
              <a:rPr>
                <a:latin typeface="Courier"/>
              </a:rPr>
              <a:t>[name]</a:t>
            </a:r>
            <a:r>
              <a:rPr/>
              <a:t>).”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“Completely ignores the requested format, outputting </a:t>
            </a:r>
            <a:r>
              <a:rPr>
                <a:latin typeface="Courier"/>
              </a:rPr>
              <a:t>[wrong format]</a:t>
            </a:r>
            <a:r>
              <a:rPr/>
              <a:t> instead of </a:t>
            </a:r>
            <a:r>
              <a:rPr>
                <a:latin typeface="Courier"/>
              </a:rPr>
              <a:t>[correct format]</a:t>
            </a:r>
            <a:r>
              <a:rPr/>
              <a:t>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Extraneous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response contains only the requested information, with no unnecessary content.”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“Includes minor conversational filler (‘I hope this helps!’) which was not requested.”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actual answer is obscured by large blocks of irrelevant, unrequested information.”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Step-by-Step /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“Provides the requested step-by-step reasoning clearly.”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“Explains the steps, but merges them into one paragraph, making them harder to follow.”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“Provides only the final answer despite an explicit request to show the intermediate steps.”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Follow-up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response correctly performs the requested follow-up action, such as asking a clarifying question.”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“Asks the follow-up question, but forgets to wait for the user before proceeding.”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“Fails to perform the required follow-up action, proceeding with incorrect assumptions instead.”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Reference Card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Did it answer everything?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Constraints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Did it obey the rules?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output structured correctly?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Extraneous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Did it add unrequested info?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Did it explain its reasoning?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Follow-up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Did it interact as requested?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Instruction Following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Workflow:</a:t>
            </a:r>
          </a:p>
          <a:p>
            <a:pPr lvl="0" indent="-342900" marL="342900">
              <a:buAutoNum type="arabicPeriod"/>
            </a:pPr>
            <a:r>
              <a:rPr/>
              <a:t>Read the prompt and identify all instructions.</a:t>
            </a:r>
          </a:p>
          <a:p>
            <a:pPr lvl="0" indent="-342900" marL="342900">
              <a:buAutoNum type="arabicPeriod"/>
            </a:pPr>
            <a:r>
              <a:rPr/>
              <a:t>Scan the response against the 6 subcategories.</a:t>
            </a:r>
          </a:p>
          <a:p>
            <a:pPr lvl="0" indent="-342900" marL="342900">
              <a:buAutoNum type="arabicPeriod"/>
            </a:pPr>
            <a:r>
              <a:rPr/>
              <a:t>Select the best template.</a:t>
            </a:r>
          </a:p>
          <a:p>
            <a:pPr lvl="0" indent="-342900" marL="342900">
              <a:buAutoNum type="arabicPeriod"/>
            </a:pPr>
            <a:r>
              <a:rPr/>
              <a:t>Insert specific details in </a:t>
            </a:r>
            <a:r>
              <a:rPr>
                <a:latin typeface="Courier"/>
              </a:rPr>
              <a:t>[brackets]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Next:</a:t>
            </a:r>
            <a:r>
              <a:rPr/>
              <a:t> Truthfulness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for LLM: Instruction Following</dc:title>
  <dc:creator>Evaluation Templates</dc:creator>
  <cp:keywords/>
  <dcterms:created xsi:type="dcterms:W3CDTF">2026-02-24T13:39:33Z</dcterms:created>
  <dcterms:modified xsi:type="dcterms:W3CDTF">2026-02-24T13:39:33Z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</vt:lpwstr>
  </property>
  <property fmtid="{D5CDD505-2E9C-101B-9397-08002B2CF9AE}" pid="3" name="output">
    <vt:lpwstr>beamer_presentation</vt:lpwstr>
  </property>
</Properties>
</file>
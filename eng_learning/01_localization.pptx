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QA for LLM: Localization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Evaluation Templates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Localization: Overview &amp;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Definition:</a:t>
            </a:r>
            <a:r>
              <a:rPr/>
              <a:t> The extent to which the response uses correct grammar, vocabulary, and idiomatic expressions to sound natural in the target language/culture.</a:t>
            </a:r>
          </a:p>
          <a:p>
            <a:pPr lvl="0" indent="0" marL="0">
              <a:buNone/>
            </a:pPr>
            <a:r>
              <a:rPr b="1"/>
              <a:t>Core Question:</a:t>
            </a:r>
            <a:r>
              <a:rPr/>
              <a:t> &gt; Does this “feel” like it was written by a native?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Localization: Subcategories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will evaluate these aspects first:</a:t>
            </a:r>
          </a:p>
          <a:p>
            <a:pPr lvl="0" indent="-342900" marL="342900">
              <a:buAutoNum type="arabicPeriod"/>
            </a:pPr>
            <a:r>
              <a:rPr b="1"/>
              <a:t>Culturally specific items</a:t>
            </a:r>
          </a:p>
          <a:p>
            <a:pPr lvl="0" indent="-342900" marL="342900">
              <a:buAutoNum type="arabicPeriod"/>
            </a:pPr>
            <a:r>
              <a:rPr b="1"/>
              <a:t>Grammar &amp; Spelling</a:t>
            </a:r>
          </a:p>
          <a:p>
            <a:pPr lvl="0" indent="-342900" marL="342900">
              <a:buAutoNum type="arabicPeriod"/>
            </a:pPr>
            <a:r>
              <a:rPr b="1"/>
              <a:t>Vocabulary</a:t>
            </a:r>
          </a:p>
          <a:p>
            <a:pPr lvl="0" indent="-342900" marL="342900">
              <a:buAutoNum type="arabicPeriod"/>
            </a:pPr>
            <a:r>
              <a:rPr b="1"/>
              <a:t>Idiomatic expressions</a:t>
            </a:r>
          </a:p>
          <a:p>
            <a:pPr lvl="0" indent="-342900" marL="342900">
              <a:buAutoNum type="arabicPeriod"/>
            </a:pPr>
            <a:r>
              <a:rPr b="1"/>
              <a:t>Date format</a:t>
            </a:r>
          </a:p>
          <a:p>
            <a:pPr lvl="0" indent="-342900" marL="342900">
              <a:buAutoNum type="arabicPeriod"/>
            </a:pPr>
            <a:r>
              <a:rPr b="1"/>
              <a:t>Units of measure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Localization: Subcategories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And we continue with these final aspects:</a:t>
            </a:r>
          </a:p>
          <a:p>
            <a:pPr lvl="0" indent="-342900" marL="342900">
              <a:buAutoNum startAt="7" type="arabicPeriod"/>
            </a:pPr>
            <a:r>
              <a:rPr b="1"/>
              <a:t>Numerical formats</a:t>
            </a:r>
          </a:p>
          <a:p>
            <a:pPr lvl="0" indent="-342900" marL="342900">
              <a:buAutoNum startAt="8" type="arabicPeriod"/>
            </a:pPr>
            <a:r>
              <a:rPr b="1"/>
              <a:t>Currency</a:t>
            </a:r>
          </a:p>
          <a:p>
            <a:pPr lvl="0" indent="-342900" marL="342900">
              <a:buAutoNum startAt="9" type="arabicPeriod"/>
            </a:pPr>
            <a:r>
              <a:rPr b="1"/>
              <a:t>Address &amp; Phone formats</a:t>
            </a:r>
          </a:p>
          <a:p>
            <a:pPr lvl="0" indent="-342900" marL="342900">
              <a:buAutoNum startAt="10" type="arabicPeriod"/>
            </a:pPr>
            <a:r>
              <a:rPr b="1"/>
              <a:t>Formality &amp; Tone</a:t>
            </a:r>
          </a:p>
          <a:p>
            <a:pPr lvl="0" indent="-342900" marL="342900">
              <a:buAutoNum startAt="11" type="arabicPeriod"/>
            </a:pPr>
            <a:r>
              <a:rPr b="1"/>
              <a:t>Legal &amp; Geopolitical references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Culturally Specific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“Well-localized, correctly referencing cultural items like </a:t>
            </a:r>
            <a:r>
              <a:rPr>
                <a:latin typeface="Courier"/>
              </a:rPr>
              <a:t>[example]</a:t>
            </a:r>
            <a:r>
              <a:rPr/>
              <a:t> for the </a:t>
            </a:r>
            <a:r>
              <a:rPr>
                <a:latin typeface="Courier"/>
              </a:rPr>
              <a:t>[region]</a:t>
            </a:r>
            <a:r>
              <a:rPr/>
              <a:t> context.”</a:t>
            </a:r>
          </a:p>
          <a:p>
            <a:pPr lvl="0" indent="0" marL="0">
              <a:buNone/>
            </a:pPr>
            <a:r>
              <a:rPr b="1"/>
              <a:t>Minor Issue:</a:t>
            </a:r>
            <a:r>
              <a:rPr/>
              <a:t> &gt; “Mentions </a:t>
            </a:r>
            <a:r>
              <a:rPr>
                <a:latin typeface="Courier"/>
              </a:rPr>
              <a:t>[item]</a:t>
            </a:r>
            <a:r>
              <a:rPr/>
              <a:t>, which is not typical in </a:t>
            </a:r>
            <a:r>
              <a:rPr>
                <a:latin typeface="Courier"/>
              </a:rPr>
              <a:t>[culture]</a:t>
            </a:r>
            <a:r>
              <a:rPr/>
              <a:t>, making the localization slightly inaccurate.”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“Contains a significant cultural error, incorrectly suggesting </a:t>
            </a:r>
            <a:r>
              <a:rPr>
                <a:latin typeface="Courier"/>
              </a:rPr>
              <a:t>[item]</a:t>
            </a:r>
            <a:r>
              <a:rPr/>
              <a:t> is a core part of </a:t>
            </a:r>
            <a:r>
              <a:rPr>
                <a:latin typeface="Courier"/>
              </a:rPr>
              <a:t>[culture]</a:t>
            </a:r>
            <a:r>
              <a:rPr/>
              <a:t>.”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Grammar &amp; Spelling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“Grammar and spelling are consistent for the target </a:t>
            </a:r>
            <a:r>
              <a:rPr>
                <a:latin typeface="Courier"/>
              </a:rPr>
              <a:t>[British/American English]</a:t>
            </a:r>
            <a:r>
              <a:rPr/>
              <a:t> audience.”</a:t>
            </a:r>
          </a:p>
          <a:p>
            <a:pPr lvl="0" indent="0" marL="0">
              <a:buNone/>
            </a:pPr>
            <a:r>
              <a:rPr b="1"/>
              <a:t>Minor Issue:</a:t>
            </a:r>
            <a:r>
              <a:rPr/>
              <a:t> &gt; “Mixes British and American spelling (e.g., ‘color’ and ‘honour’). It should stick to one.”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“Uses grammatical structures that are unnatural or incorrect for the target audience.”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Vocabulary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“The vocabulary used is natural and appropriate for the target </a:t>
            </a:r>
            <a:r>
              <a:rPr>
                <a:latin typeface="Courier"/>
              </a:rPr>
              <a:t>[region]</a:t>
            </a:r>
            <a:r>
              <a:rPr/>
              <a:t> audience.”</a:t>
            </a:r>
          </a:p>
          <a:p>
            <a:pPr lvl="0" indent="0" marL="0">
              <a:buNone/>
            </a:pPr>
            <a:r>
              <a:rPr b="1"/>
              <a:t>Minor Issue:</a:t>
            </a:r>
            <a:r>
              <a:rPr/>
              <a:t> &gt; “Uses ‘</a:t>
            </a:r>
            <a:r>
              <a:rPr>
                <a:latin typeface="Courier"/>
              </a:rPr>
              <a:t>[word]</a:t>
            </a:r>
            <a:r>
              <a:rPr/>
              <a:t>’, but ‘</a:t>
            </a:r>
            <a:r>
              <a:rPr>
                <a:latin typeface="Courier"/>
              </a:rPr>
              <a:t>[better word]</a:t>
            </a:r>
            <a:r>
              <a:rPr/>
              <a:t>’ would be more natural for a </a:t>
            </a:r>
            <a:r>
              <a:rPr>
                <a:latin typeface="Courier"/>
              </a:rPr>
              <a:t>[region]</a:t>
            </a:r>
            <a:r>
              <a:rPr/>
              <a:t> audience.”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“Uses ‘</a:t>
            </a:r>
            <a:r>
              <a:rPr>
                <a:latin typeface="Courier"/>
              </a:rPr>
              <a:t>[word]</a:t>
            </a:r>
            <a:r>
              <a:rPr/>
              <a:t>’ which has a confusing or different meaning in the target region.”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Idiomatic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“Uses idiomatic expressions correctly and naturally.”</a:t>
            </a:r>
          </a:p>
          <a:p>
            <a:pPr lvl="0" indent="0" marL="0">
              <a:buNone/>
            </a:pPr>
            <a:r>
              <a:rPr b="1"/>
              <a:t>Minor Issue:</a:t>
            </a:r>
            <a:r>
              <a:rPr/>
              <a:t> &gt; “The idiom ‘</a:t>
            </a:r>
            <a:r>
              <a:rPr>
                <a:latin typeface="Courier"/>
              </a:rPr>
              <a:t>[idiom]</a:t>
            </a:r>
            <a:r>
              <a:rPr/>
              <a:t>’ is used in a slightly unnatural way.”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“Uses a literal translation of an idiom, ‘</a:t>
            </a:r>
            <a:r>
              <a:rPr>
                <a:latin typeface="Courier"/>
              </a:rPr>
              <a:t>[bad translation]</a:t>
            </a:r>
            <a:r>
              <a:rPr/>
              <a:t>’, which makes no sense.”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Date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“The date format (</a:t>
            </a:r>
            <a:r>
              <a:rPr>
                <a:latin typeface="Courier"/>
              </a:rPr>
              <a:t>DD/MM/YYYY</a:t>
            </a:r>
            <a:r>
              <a:rPr/>
              <a:t>) is correct and conventional for the </a:t>
            </a:r>
            <a:r>
              <a:rPr>
                <a:latin typeface="Courier"/>
              </a:rPr>
              <a:t>[region]</a:t>
            </a:r>
            <a:r>
              <a:rPr/>
              <a:t> context.”</a:t>
            </a:r>
          </a:p>
          <a:p>
            <a:pPr lvl="0" indent="0" marL="0">
              <a:buNone/>
            </a:pPr>
            <a:r>
              <a:rPr b="1"/>
              <a:t>Minor Issue:</a:t>
            </a:r>
            <a:r>
              <a:rPr/>
              <a:t> &gt; “Uses </a:t>
            </a:r>
            <a:r>
              <a:rPr>
                <a:latin typeface="Courier"/>
              </a:rPr>
              <a:t>MM-DD-YYYY</a:t>
            </a:r>
            <a:r>
              <a:rPr/>
              <a:t> format. While valid, </a:t>
            </a:r>
            <a:r>
              <a:rPr>
                <a:latin typeface="Courier"/>
              </a:rPr>
              <a:t>DD/MM/YYYY</a:t>
            </a:r>
            <a:r>
              <a:rPr/>
              <a:t> is more conventional for a UK audience.”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“Uses the wrong date format, causing potential confusion between day and month.”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Units of Measure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“Uses the correct units of measure for the </a:t>
            </a:r>
            <a:r>
              <a:rPr>
                <a:latin typeface="Courier"/>
              </a:rPr>
              <a:t>[region]</a:t>
            </a:r>
            <a:r>
              <a:rPr/>
              <a:t> context (e.g., miles for US).”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“Fails to use the standard measurement system for the target region. Uses </a:t>
            </a:r>
            <a:r>
              <a:rPr>
                <a:latin typeface="Courier"/>
              </a:rPr>
              <a:t>[wrong]</a:t>
            </a:r>
            <a:r>
              <a:rPr/>
              <a:t> instead of </a:t>
            </a:r>
            <a:r>
              <a:rPr>
                <a:latin typeface="Courier"/>
              </a:rPr>
              <a:t>[correct]</a:t>
            </a:r>
            <a:r>
              <a:rPr/>
              <a:t>.”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Numerical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“Numerical formatting (decimal separators) is correct for the target locale.”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“Uses a comma as a decimal separator (</a:t>
            </a:r>
            <a:r>
              <a:rPr>
                <a:latin typeface="Courier"/>
              </a:rPr>
              <a:t>1,23</a:t>
            </a:r>
            <a:r>
              <a:rPr/>
              <a:t>), which is incorrect for a US/UK audience.”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Currency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“The currency symbol and format are correct for the specified region.”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“Uses the wrong currency (</a:t>
            </a:r>
            <a:r>
              <a:rPr>
                <a:latin typeface="Courier"/>
              </a:rPr>
              <a:t>[wrong]</a:t>
            </a:r>
            <a:r>
              <a:rPr/>
              <a:t>) for the target country. Should have used </a:t>
            </a:r>
            <a:r>
              <a:rPr>
                <a:latin typeface="Courier"/>
              </a:rPr>
              <a:t>[correct]</a:t>
            </a:r>
            <a:r>
              <a:rPr/>
              <a:t>.”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Address &amp; Phone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“The </a:t>
            </a:r>
            <a:r>
              <a:rPr>
                <a:latin typeface="Courier"/>
              </a:rPr>
              <a:t>[address/phone]</a:t>
            </a:r>
            <a:r>
              <a:rPr/>
              <a:t> format is standard and appropriate for </a:t>
            </a:r>
            <a:r>
              <a:rPr>
                <a:latin typeface="Courier"/>
              </a:rPr>
              <a:t>[country]</a:t>
            </a:r>
            <a:r>
              <a:rPr/>
              <a:t>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“The address format is completely non-standard for </a:t>
            </a:r>
            <a:r>
              <a:rPr>
                <a:latin typeface="Courier"/>
              </a:rPr>
              <a:t>[country]</a:t>
            </a:r>
            <a:r>
              <a:rPr/>
              <a:t> and unusable.”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Formality &amp; Tone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“The tone and level of formality are well-suited for the context and target culture.”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“Uses an overly familiar or disrespectful tone that is culturally inappropriate.”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Legal &amp; Geopolitical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“All geopolitical and cultural references are accurate and neutral.”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“Uses a controversial or incorrect name for a geographical region.”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Quick Reference Card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 Question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Cultural/Vocab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it sound natural?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Formats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Correct date/number/unit?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Tone/Refs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 it appropriate/neutral?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This card is a highly condensed summary.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End of Localization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Remember:</a:t>
            </a:r>
          </a:p>
          <a:p>
            <a:pPr lvl="0" indent="-342900" marL="342900">
              <a:buAutoNum type="arabicPeriod"/>
            </a:pPr>
            <a:r>
              <a:rPr/>
              <a:t>Identify the target region/culture.</a:t>
            </a:r>
          </a:p>
          <a:p>
            <a:pPr lvl="0" indent="-342900" marL="342900">
              <a:buAutoNum type="arabicPeriod"/>
            </a:pPr>
            <a:r>
              <a:rPr/>
              <a:t>Check relevant subcategories.</a:t>
            </a:r>
          </a:p>
          <a:p>
            <a:pPr lvl="0" indent="-342900" marL="342900">
              <a:buAutoNum type="arabicPeriod"/>
            </a:pPr>
            <a:r>
              <a:rPr/>
              <a:t>Use the template and insert details.</a:t>
            </a:r>
          </a:p>
          <a:p>
            <a:pPr lvl="0" indent="0" marL="0">
              <a:buNone/>
            </a:pPr>
            <a:r>
              <a:rPr/>
              <a:t>You now have a complete and corrected set of all presentations.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for LLM: Localization</dc:title>
  <dc:creator>Evaluation Templates</dc:creator>
  <cp:keywords/>
  <dcterms:created xsi:type="dcterms:W3CDTF">2026-02-24T14:18:41Z</dcterms:created>
  <dcterms:modified xsi:type="dcterms:W3CDTF">2026-02-24T14:18:41Z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2024</vt:lpwstr>
  </property>
  <property fmtid="{D5CDD505-2E9C-101B-9397-08002B2CF9AE}" pid="3" name="output">
    <vt:lpwstr>beamer_presentation</vt:lpwstr>
  </property>
</Properties>
</file>
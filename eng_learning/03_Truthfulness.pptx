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QA for LLM: Truthfulness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Evaluation Templates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Truthfulness: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Definition (for Programming):</a:t>
            </a:r>
            <a:r>
              <a:rPr/>
              <a:t> Technical correctness. Is the code functional? Are the explanations factually accurate?</a:t>
            </a:r>
          </a:p>
          <a:p>
            <a:pPr lvl="0" indent="0" marL="0">
              <a:buNone/>
            </a:pPr>
            <a:r>
              <a:rPr b="1"/>
              <a:t>Core Question:</a:t>
            </a:r>
            <a:r>
              <a:rPr/>
              <a:t> &gt; Does the solution actually </a:t>
            </a:r>
            <a:r>
              <a:rPr i="1"/>
              <a:t>work</a:t>
            </a:r>
            <a:r>
              <a:rPr/>
              <a:t> correctly and safely? Are the claims it makes true?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Truthfulness: Subcategories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evaluate these 5 aspects:</a:t>
            </a:r>
          </a:p>
          <a:p>
            <a:pPr lvl="0" indent="-342900" marL="342900">
              <a:buAutoNum type="arabicPeriod"/>
            </a:pPr>
            <a:r>
              <a:rPr b="1"/>
              <a:t>Functional Correctness</a:t>
            </a:r>
          </a:p>
          <a:p>
            <a:pPr lvl="0" indent="-342900" marL="342900">
              <a:buAutoNum type="arabicPeriod"/>
            </a:pPr>
            <a:r>
              <a:rPr b="1"/>
              <a:t>Robustness &amp; Edge Cases</a:t>
            </a:r>
          </a:p>
          <a:p>
            <a:pPr lvl="0" indent="-342900" marL="342900">
              <a:buAutoNum type="arabicPeriod"/>
            </a:pPr>
            <a:r>
              <a:rPr b="1"/>
              <a:t>Factual Accuracy of Explanations</a:t>
            </a:r>
          </a:p>
          <a:p>
            <a:pPr lvl="0" indent="-342900" marL="342900">
              <a:buAutoNum type="arabicPeriod"/>
            </a:pPr>
            <a:r>
              <a:rPr b="1"/>
              <a:t>Absence of Hallucinations</a:t>
            </a:r>
          </a:p>
          <a:p>
            <a:pPr lvl="0" indent="-342900" marL="342900">
              <a:buAutoNum type="arabicPeriod"/>
            </a:pPr>
            <a:r>
              <a:rPr b="1"/>
              <a:t>Use of Current Practices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Functional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provided code is functionally correct and produces the expected output for valid inputs.”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“The code has a minor logical error; it fails when </a:t>
            </a:r>
            <a:r>
              <a:rPr>
                <a:latin typeface="Courier"/>
              </a:rPr>
              <a:t>[condition]</a:t>
            </a:r>
            <a:r>
              <a:rPr/>
              <a:t>, but works otherwise.”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core logic is flawed. The code consistently produces incorrect results and fails to solve the problem.”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Robustness &amp; Edge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code is robust and correctly handles common edge cases like empty lists or null inputs.”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“The code works for typical inputs but fails on a common edge case (</a:t>
            </a:r>
            <a:r>
              <a:rPr>
                <a:latin typeface="Courier"/>
              </a:rPr>
              <a:t>[edge case]</a:t>
            </a:r>
            <a:r>
              <a:rPr/>
              <a:t>), causing an error.”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code is very brittle. It lacks any error handling and crashes on any non-ideal input.”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Factual Accuracy of Explanations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explanation is factually accurate, correctly describing the code’s logic and performance.”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“The explanation has a minor inaccuracy. It claims </a:t>
            </a:r>
            <a:r>
              <a:rPr>
                <a:latin typeface="Courier"/>
              </a:rPr>
              <a:t>[inaccurate statement]</a:t>
            </a:r>
            <a:r>
              <a:rPr/>
              <a:t> when it’s actually </a:t>
            </a:r>
            <a:r>
              <a:rPr>
                <a:latin typeface="Courier"/>
              </a:rPr>
              <a:t>[correct statement]</a:t>
            </a:r>
            <a:r>
              <a:rPr/>
              <a:t>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explanation is highly misleading and factually wrong (e.g., states O(n) complexity for an O(n^2) algorithm).”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Absence of Hallucinations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response does not contain any hallucinations. All libraries and functions used are real.”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“The code hallucinates a minor, non-existent optional parameter (</a:t>
            </a:r>
            <a:r>
              <a:rPr>
                <a:latin typeface="Courier"/>
              </a:rPr>
              <a:t>[param]</a:t>
            </a:r>
            <a:r>
              <a:rPr/>
              <a:t>). The code still runs.”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response hallucinates a critical component (e.g., a fake library </a:t>
            </a:r>
            <a:r>
              <a:rPr>
                <a:latin typeface="Courier"/>
              </a:rPr>
              <a:t>[lib_name]</a:t>
            </a:r>
            <a:r>
              <a:rPr/>
              <a:t>), making the code unusable.”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Use of Current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solution uses modern, idiomatic </a:t>
            </a:r>
            <a:r>
              <a:rPr>
                <a:latin typeface="Courier"/>
              </a:rPr>
              <a:t>[language]</a:t>
            </a:r>
            <a:r>
              <a:rPr/>
              <a:t> code and follows current best practices.”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“The code is functional but uses a deprecated function (</a:t>
            </a:r>
            <a:r>
              <a:rPr>
                <a:latin typeface="Courier"/>
              </a:rPr>
              <a:t>[func]</a:t>
            </a:r>
            <a:r>
              <a:rPr/>
              <a:t>). The modern alternative is </a:t>
            </a:r>
            <a:r>
              <a:rPr>
                <a:latin typeface="Courier"/>
              </a:rPr>
              <a:t>[alt_func]</a:t>
            </a:r>
            <a:r>
              <a:rPr/>
              <a:t>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solution relies on a completely outdated or insecure paradigm (e.g., Python 2) that should not be used.”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Reference Card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Correctness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it solve the problem?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Robustness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it handle weird inputs?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the explanation true?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Hallucinations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 the functions/libs real?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Practices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the code up-to-date?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of Truthfulness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Workflow:</a:t>
            </a:r>
          </a:p>
          <a:p>
            <a:pPr lvl="0" indent="-342900" marL="342900">
              <a:buAutoNum type="arabicPeriod"/>
            </a:pPr>
            <a:r>
              <a:rPr/>
              <a:t>Run the code (mentally or actually).</a:t>
            </a:r>
          </a:p>
          <a:p>
            <a:pPr lvl="0" indent="-342900" marL="342900">
              <a:buAutoNum type="arabicPeriod"/>
            </a:pPr>
            <a:r>
              <a:rPr/>
              <a:t>Test it against edge cases.</a:t>
            </a:r>
          </a:p>
          <a:p>
            <a:pPr lvl="0" indent="-342900" marL="342900">
              <a:buAutoNum type="arabicPeriod"/>
            </a:pPr>
            <a:r>
              <a:rPr/>
              <a:t>Fact-check the explanation.</a:t>
            </a:r>
          </a:p>
          <a:p>
            <a:pPr lvl="0" indent="-342900" marL="342900">
              <a:buAutoNum type="arabicPeriod"/>
            </a:pPr>
            <a:r>
              <a:rPr/>
              <a:t>Look for non-existent functions.</a:t>
            </a:r>
          </a:p>
          <a:p>
            <a:pPr lvl="0" indent="-342900" marL="342900">
              <a:buAutoNum type="arabicPeriod"/>
            </a:pPr>
            <a:r>
              <a:rPr/>
              <a:t>Check for outdated methods.</a:t>
            </a:r>
          </a:p>
          <a:p>
            <a:pPr lvl="0" indent="0" marL="0">
              <a:buNone/>
            </a:pPr>
            <a:r>
              <a:rPr b="1"/>
              <a:t>Next:</a:t>
            </a:r>
            <a:r>
              <a:rPr/>
              <a:t> Response Length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for LLM: Truthfulness</dc:title>
  <dc:creator>Evaluation Templates</dc:creator>
  <cp:keywords/>
  <dcterms:created xsi:type="dcterms:W3CDTF">2026-02-24T13:50:30Z</dcterms:created>
  <dcterms:modified xsi:type="dcterms:W3CDTF">2026-02-24T13:50:30Z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2024</vt:lpwstr>
  </property>
  <property fmtid="{D5CDD505-2E9C-101B-9397-08002B2CF9AE}" pid="3" name="output">
    <vt:lpwstr>beamer_presentation</vt:lpwstr>
  </property>
</Properties>
</file>